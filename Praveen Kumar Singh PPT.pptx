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4" name="Shape 10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Google Shape;32;p25"/>
          <p:cNvSpPr txBox="1"/>
          <p:nvPr>
            <p:ph type="body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b="1" sz="2400"/>
            </a:lvl1pPr>
            <a:lvl2pPr marL="228600" indent="457200">
              <a:buClrTx/>
              <a:buSzTx/>
              <a:buFontTx/>
              <a:buNone/>
              <a:defRPr b="1" sz="2400"/>
            </a:lvl2pPr>
            <a:lvl3pPr marL="228600" indent="914400">
              <a:buClrTx/>
              <a:buSzTx/>
              <a:buFontTx/>
              <a:buNone/>
              <a:defRPr b="1" sz="2400"/>
            </a:lvl3pPr>
            <a:lvl4pPr marL="228600" indent="1371600">
              <a:buClrTx/>
              <a:buSzTx/>
              <a:buFontTx/>
              <a:buNone/>
              <a:defRPr b="1" sz="2400"/>
            </a:lvl4pPr>
            <a:lvl5pPr marL="228600" indent="1828800">
              <a:buClrTx/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Google Shape;39;p26"/>
          <p:cNvSpPr txBox="1"/>
          <p:nvPr>
            <p:ph type="body" sz="half" idx="21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" name="Google Shape;40;p26"/>
          <p:cNvSpPr txBox="1"/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b="1" sz="2400"/>
            </a:pPr>
          </a:p>
        </p:txBody>
      </p:sp>
      <p:sp>
        <p:nvSpPr>
          <p:cNvPr id="43" name="Google Shape;41;p26"/>
          <p:cNvSpPr txBox="1"/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 indent="-431800">
              <a:buSzPts val="3200"/>
              <a:defRPr sz="3200"/>
            </a:lvl1pPr>
            <a:lvl2pPr marL="972457" indent="-464457">
              <a:buSzPts val="3200"/>
              <a:defRPr sz="3200"/>
            </a:lvl2pPr>
            <a:lvl3pPr marL="1498600" indent="-508000">
              <a:buSzPts val="3200"/>
              <a:defRPr sz="3200"/>
            </a:lvl3pPr>
            <a:lvl4pPr marL="2042160" indent="-568960">
              <a:buSzPts val="3200"/>
              <a:defRPr sz="3200"/>
            </a:lvl4pPr>
            <a:lvl5pPr marL="2499360" indent="-568960">
              <a:buSzPts val="3200"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Google Shape;57;p29"/>
          <p:cNvSpPr txBox="1"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600"/>
            </a:pPr>
          </a:p>
        </p:txBody>
      </p:sp>
      <p:sp>
        <p:nvSpPr>
          <p:cNvPr id="6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7" name="Google Shape;63;p30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78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7" name="Body Level One…"/>
          <p:cNvSpPr txBox="1"/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/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1550" marR="0" indent="-4000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087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naveenkumarsingh7376@gmail.com" TargetMode="External"/><Relationship Id="rId3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/>
          <a:p>
            <a:pPr algn="ctr">
              <a:defRPr b="1" sz="6600"/>
            </a:pPr>
            <a:r>
              <a:t>IBM University Engagement Project Submission</a:t>
            </a:r>
            <a:br/>
          </a:p>
        </p:txBody>
      </p:sp>
      <p:sp>
        <p:nvSpPr>
          <p:cNvPr id="107" name="Text Placeholder 2"/>
          <p:cNvSpPr txBox="1"/>
          <p:nvPr>
            <p:ph type="body" sz="quarter" idx="1"/>
          </p:nvPr>
        </p:nvSpPr>
        <p:spPr>
          <a:xfrm>
            <a:off x="1014730" y="3903662"/>
            <a:ext cx="10515601" cy="1500188"/>
          </a:xfrm>
          <a:prstGeom prst="rect">
            <a:avLst/>
          </a:prstGeom>
        </p:spPr>
        <p:txBody>
          <a:bodyPr/>
          <a:lstStyle>
            <a:lvl1pPr algn="ctr">
              <a:defRPr b="1" i="1"/>
            </a:lvl1pPr>
          </a:lstStyle>
          <a:p>
            <a:pPr/>
            <a:r>
              <a:t>“Exploring the Power of Agentic AI with IBM Granite and IBM Bob”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96;p2"/>
          <p:cNvGraphicFramePr/>
          <p:nvPr/>
        </p:nvGraphicFramePr>
        <p:xfrm>
          <a:off x="1299257" y="2600314"/>
          <a:ext cx="9394990" cy="216712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64867"/>
                <a:gridCol w="2443374"/>
                <a:gridCol w="2443374"/>
                <a:gridCol w="2443374"/>
              </a:tblGrid>
              <a:tr h="97323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ym typeface="Arial"/>
                        </a:rPr>
                        <a:t>Student Name</a:t>
                      </a:r>
                    </a:p>
                  </a:txBody>
                  <a:tcPr marL="45725" marR="45725" marT="45725" marB="45725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ym typeface="Arial"/>
                        </a:rPr>
                        <a:t>Recent Passport Photo</a:t>
                      </a:r>
                    </a:p>
                  </a:txBody>
                  <a:tcPr marL="45725" marR="45725" marT="45725" marB="45725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ym typeface="Arial"/>
                        </a:rPr>
                        <a:t>Email ID </a:t>
                      </a:r>
                    </a:p>
                  </a:txBody>
                  <a:tcPr marL="45725" marR="45725" marT="45725" marB="45725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ym typeface="Arial"/>
                        </a:defRPr>
                      </a:pPr>
                      <a:r>
                        <a:t>Mobile number</a:t>
                      </a: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  <a:r>
                        <a:t>[WhatsApp] </a:t>
                      </a:r>
                    </a:p>
                  </a:txBody>
                  <a:tcPr marL="45725" marR="45725" marT="45725" marB="45725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5"/>
                    </a:solidFill>
                  </a:tcPr>
                </a:tc>
              </a:tr>
              <a:tr h="119389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ym typeface="Arial"/>
                        </a:rPr>
                        <a:t>Praveen Kumar Singh</a:t>
                      </a:r>
                    </a:p>
                  </a:txBody>
                  <a:tcPr marL="45725" marR="45725" marT="45725" marB="45725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ym typeface="Arial"/>
                        </a:defRPr>
                      </a:pPr>
                    </a:p>
                  </a:txBody>
                  <a:tcPr marL="45725" marR="45725" marT="45725" marB="45725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ym typeface="Arial"/>
                        </a:defRPr>
                      </a:pPr>
                      <a:r>
                        <a:rPr u="sng">
                          <a:solidFill>
                            <a:srgbClr val="0563C1"/>
                          </a:solidFill>
                          <a:uFill>
                            <a:solidFill>
                              <a:srgbClr val="0563C1"/>
                            </a:solidFill>
                          </a:uFill>
                          <a:hlinkClick r:id="rId2" invalidUrl="" action="" tgtFrame="" tooltip="" history="1" highlightClick="0" endSnd="0"/>
                        </a:rPr>
                        <a:t>naveenkumarsingh7376@gmail.com</a:t>
                      </a:r>
                    </a:p>
                  </a:txBody>
                  <a:tcPr marL="45725" marR="45725" marT="45725" marB="45725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ym typeface="Arial"/>
                        </a:rPr>
                        <a:t>8840469757</a:t>
                      </a:r>
                    </a:p>
                  </a:txBody>
                  <a:tcPr marL="45725" marR="45725" marT="45725" marB="45725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110" name="TextBox 3"/>
          <p:cNvSpPr txBox="1"/>
          <p:nvPr/>
        </p:nvSpPr>
        <p:spPr>
          <a:xfrm>
            <a:off x="1251884" y="1460724"/>
            <a:ext cx="10188814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Domain of  Project – [ Education ]</a:t>
            </a:r>
          </a:p>
        </p:txBody>
      </p:sp>
      <p:sp>
        <p:nvSpPr>
          <p:cNvPr id="111" name="TextBox 6"/>
          <p:cNvSpPr txBox="1"/>
          <p:nvPr/>
        </p:nvSpPr>
        <p:spPr>
          <a:xfrm>
            <a:off x="1251881" y="551965"/>
            <a:ext cx="9489738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Project Tile – [College Admission Agent]</a:t>
            </a:r>
          </a:p>
        </p:txBody>
      </p:sp>
      <p:pic>
        <p:nvPicPr>
          <p:cNvPr id="112" name="Pi7_Passport_Photo.jpeg" descr="Pi7_Passport_Photo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37427" y="3615075"/>
            <a:ext cx="849114" cy="10917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2"/>
          <p:cNvSpPr txBox="1"/>
          <p:nvPr/>
        </p:nvSpPr>
        <p:spPr>
          <a:xfrm>
            <a:off x="621791" y="704087"/>
            <a:ext cx="7123177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Problem Statement -</a:t>
            </a:r>
          </a:p>
        </p:txBody>
      </p:sp>
      <p:sp>
        <p:nvSpPr>
          <p:cNvPr id="115" name="The Challenge…"/>
          <p:cNvSpPr txBox="1"/>
          <p:nvPr>
            <p:ph type="body" idx="1"/>
          </p:nvPr>
        </p:nvSpPr>
        <p:spPr>
          <a:xfrm>
            <a:off x="660400" y="1216025"/>
            <a:ext cx="10515600" cy="5032375"/>
          </a:xfrm>
          <a:prstGeom prst="rect">
            <a:avLst/>
          </a:prstGeom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The Challenge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The college admission process involves a large amount of information such as: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* Course details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* Eligibility criteria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* Admission policies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* Fee structures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* Required documents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* Application procedures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* Important admission dates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* Frequently asked questions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Students often have difficulty finding the correct information quickly.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Proposed Approach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A </a:t>
            </a:r>
            <a:r>
              <a:rPr b="1"/>
              <a:t>RAG-based College Admission Agent</a:t>
            </a:r>
            <a:r>
              <a:t> retrieves relevant information from trusted college documents and official sources and uses </a:t>
            </a:r>
            <a:r>
              <a:rPr b="1"/>
              <a:t>IBM Granite</a:t>
            </a:r>
            <a:r>
              <a:t> to generate accurate, context-aware responses.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 txBox="1"/>
          <p:nvPr/>
        </p:nvSpPr>
        <p:spPr>
          <a:xfrm>
            <a:off x="621791" y="1234439"/>
            <a:ext cx="10515601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/>
            </a:pPr>
          </a:p>
        </p:txBody>
      </p:sp>
      <p:sp>
        <p:nvSpPr>
          <p:cNvPr id="118" name="TextBox 2"/>
          <p:cNvSpPr txBox="1"/>
          <p:nvPr/>
        </p:nvSpPr>
        <p:spPr>
          <a:xfrm>
            <a:off x="621791" y="704087"/>
            <a:ext cx="7123177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Proposed Solution -</a:t>
            </a:r>
          </a:p>
        </p:txBody>
      </p:sp>
      <p:sp>
        <p:nvSpPr>
          <p:cNvPr id="119" name="Proposed Solution…"/>
          <p:cNvSpPr txBox="1"/>
          <p:nvPr>
            <p:ph type="body" idx="1"/>
          </p:nvPr>
        </p:nvSpPr>
        <p:spPr>
          <a:xfrm>
            <a:off x="621791" y="1266825"/>
            <a:ext cx="10515601" cy="5032375"/>
          </a:xfrm>
          <a:prstGeom prst="rect">
            <a:avLst/>
          </a:prstGeom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Proposed Solution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College Admission Agent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Our solution is a </a:t>
            </a:r>
            <a:r>
              <a:rPr b="1"/>
              <a:t>custom web-based AI chatbot</a:t>
            </a:r>
            <a:r>
              <a:t> that acts as a virtual admission assistant.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How It Works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rPr b="1"/>
              <a:t>1. Student Query</a:t>
            </a:r>
            <a:br/>
            <a:r>
              <a:t>Student asks a question in natural language.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↓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rPr b="1"/>
              <a:t>2. Query Processing</a:t>
            </a:r>
            <a:br/>
            <a:r>
              <a:t>The system understands the student's requirement.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↓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rPr b="1"/>
              <a:t>3. RAG Retrieval</a:t>
            </a:r>
            <a:br/>
            <a:r>
              <a:t>Relevant information is retrieved from the college knowledge base.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↓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rPr b="1"/>
              <a:t>4. IBM Granite</a:t>
            </a:r>
            <a:br/>
            <a:r>
              <a:t>IBM Granite generates a response using the retrieved information.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↓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rPr b="1"/>
              <a:t>5. Chatbot Response</a:t>
            </a:r>
            <a:br/>
            <a:r>
              <a:t>The student receives a clear and useful answer through the website.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 txBox="1"/>
          <p:nvPr/>
        </p:nvSpPr>
        <p:spPr>
          <a:xfrm>
            <a:off x="822959" y="484631"/>
            <a:ext cx="7031737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Technology Used</a:t>
            </a:r>
          </a:p>
        </p:txBody>
      </p:sp>
      <p:sp>
        <p:nvSpPr>
          <p:cNvPr id="122" name="TextBox 2"/>
          <p:cNvSpPr txBox="1"/>
          <p:nvPr/>
        </p:nvSpPr>
        <p:spPr>
          <a:xfrm>
            <a:off x="880523" y="1044855"/>
            <a:ext cx="8484083" cy="630862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/>
            </a:pPr>
            <a:r>
              <a:t>IBM Granite</a:t>
            </a:r>
          </a:p>
          <a:p>
            <a:pPr>
              <a:defRPr b="1"/>
            </a:pPr>
          </a:p>
          <a:p>
            <a:pPr/>
            <a:r>
              <a:t>Used as the foundation model for generating natural-language responses.</a:t>
            </a:r>
          </a:p>
          <a:p>
            <a:pPr/>
            <a:r>
              <a:t>Processes retrieved admission information.</a:t>
            </a:r>
          </a:p>
          <a:p>
            <a:pPr/>
            <a:r>
              <a:t>Generates conversational answers.</a:t>
            </a:r>
          </a:p>
          <a:p>
            <a:pPr/>
          </a:p>
          <a:p>
            <a:pPr>
              <a:defRPr b="1"/>
            </a:pPr>
            <a:r>
              <a:t>IBM Cloud Lite</a:t>
            </a:r>
          </a:p>
          <a:p>
            <a:pPr>
              <a:defRPr b="1"/>
            </a:pPr>
          </a:p>
          <a:p>
            <a:pPr/>
            <a:r>
              <a:t>Cloud environment for developing and deploying the AI solution.</a:t>
            </a:r>
          </a:p>
          <a:p>
            <a:pPr/>
            <a:r>
              <a:t>Supports IBM services required for the project.</a:t>
            </a:r>
          </a:p>
          <a:p>
            <a:pPr/>
          </a:p>
          <a:p>
            <a:pPr>
              <a:defRPr b="1"/>
            </a:pPr>
            <a:r>
              <a:t>IBM Bob</a:t>
            </a:r>
          </a:p>
          <a:p>
            <a:pPr>
              <a:defRPr b="1"/>
            </a:pPr>
          </a:p>
          <a:p>
            <a:pPr/>
            <a:r>
              <a:t>Helps in building and developing the AI-powered application.</a:t>
            </a:r>
          </a:p>
          <a:p>
            <a:pPr/>
            <a:r>
              <a:t>Supports agentic workflow development.</a:t>
            </a:r>
          </a:p>
          <a:p>
            <a:pPr/>
          </a:p>
          <a:p>
            <a:pPr>
              <a:defRPr b="1"/>
            </a:pPr>
            <a:r>
              <a:t>RAG — Retrieval-Augmented Generation</a:t>
            </a:r>
          </a:p>
          <a:p>
            <a:pPr>
              <a:defRPr b="1"/>
            </a:pPr>
          </a:p>
          <a:p>
            <a:pPr/>
            <a:r>
              <a:t>Retrieves relevant information before generating an answer.</a:t>
            </a:r>
          </a:p>
          <a:p>
            <a:pPr/>
            <a:r>
              <a:t>Helps keep responses grounded in trusted admission information.</a:t>
            </a:r>
          </a:p>
          <a:p>
            <a:pPr/>
          </a:p>
          <a:p>
            <a:pPr>
              <a:defRPr b="1"/>
            </a:pPr>
            <a:r>
              <a:t>Custom Website</a:t>
            </a:r>
          </a:p>
          <a:p>
            <a:pPr>
              <a:defRPr b="1"/>
            </a:pPr>
          </a:p>
          <a:p>
            <a:pPr/>
            <a:r>
              <a:t>Provides the user interface for students and applicants.</a:t>
            </a:r>
          </a:p>
          <a:p>
            <a:pPr/>
            <a:r>
              <a:t>Integrates the admission chatbot into the college website.</a:t>
            </a:r>
          </a:p>
          <a:p>
            <a:pPr/>
          </a:p>
          <a:p>
            <a:pPr/>
            <a:endParaRPr sz="1800"/>
          </a:p>
          <a:p>
            <a:pPr/>
            <a:endParaRPr sz="1800"/>
          </a:p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"/>
          <p:cNvSpPr txBox="1"/>
          <p:nvPr/>
        </p:nvSpPr>
        <p:spPr>
          <a:xfrm>
            <a:off x="588275" y="738238"/>
            <a:ext cx="3009606" cy="4517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Clr>
                <a:srgbClr val="000000"/>
              </a:buClr>
              <a:buSzPct val="100000"/>
              <a:buAutoNum type="arabicPeriod" startAt="1"/>
            </a:pPr>
          </a:p>
          <a:p>
            <a:pPr marL="342900" indent="-342900">
              <a:buClr>
                <a:srgbClr val="000000"/>
              </a:buClr>
              <a:buSzPct val="100000"/>
              <a:buAutoNum type="arabicPeriod" startAt="1"/>
              <a:defRPr sz="1800"/>
            </a:pPr>
            <a:r>
              <a:t>main</a:t>
            </a:r>
            <a:r>
              <a:t>.py</a:t>
            </a:r>
          </a:p>
          <a:p>
            <a:pPr marL="342900" indent="-342900">
              <a:buClr>
                <a:srgbClr val="000000"/>
              </a:buClr>
              <a:buSzPct val="100000"/>
              <a:buAutoNum type="arabicPeriod" startAt="1"/>
              <a:defRPr sz="1800"/>
            </a:pPr>
          </a:p>
          <a:p>
            <a:pPr marL="342900" indent="-342900">
              <a:buClr>
                <a:srgbClr val="000000"/>
              </a:buClr>
              <a:buSzPct val="100000"/>
              <a:buAutoNum type="arabicPeriod" startAt="2"/>
              <a:defRPr sz="1800"/>
            </a:pPr>
            <a:r>
              <a:t>Requirements.txt</a:t>
            </a:r>
          </a:p>
          <a:p>
            <a:pPr marL="342900" indent="-342900">
              <a:buClr>
                <a:srgbClr val="000000"/>
              </a:buClr>
              <a:buSzPct val="100000"/>
              <a:buAutoNum type="arabicPeriod" startAt="2"/>
              <a:defRPr sz="1800"/>
            </a:pPr>
          </a:p>
          <a:p>
            <a:pPr marL="342900" indent="-342900">
              <a:buClr>
                <a:srgbClr val="000000"/>
              </a:buClr>
              <a:buSzPct val="100000"/>
              <a:buAutoNum type="arabicPeriod" startAt="3"/>
              <a:defRPr sz="1800"/>
            </a:pPr>
            <a:r>
              <a:t>Style.css </a:t>
            </a:r>
          </a:p>
          <a:p>
            <a:pPr marL="342900" indent="-342900">
              <a:buClr>
                <a:srgbClr val="000000"/>
              </a:buClr>
              <a:buSzPct val="100000"/>
              <a:buAutoNum type="arabicPeriod" startAt="3"/>
              <a:defRPr sz="1800"/>
            </a:pPr>
          </a:p>
          <a:p>
            <a:pPr marL="342900" indent="-342900">
              <a:buClr>
                <a:srgbClr val="000000"/>
              </a:buClr>
              <a:buSzPct val="100000"/>
              <a:buAutoNum type="arabicPeriod" startAt="4"/>
              <a:defRPr sz="1800"/>
            </a:pPr>
            <a:r>
              <a:t>Praveen</a:t>
            </a:r>
            <a:r>
              <a:t>.env</a:t>
            </a:r>
          </a:p>
          <a:p>
            <a:pPr marL="342900" indent="-342900">
              <a:buClr>
                <a:srgbClr val="000000"/>
              </a:buClr>
              <a:buSzPct val="100000"/>
              <a:buAutoNum type="arabicPeriod" startAt="4"/>
              <a:defRPr sz="1800"/>
            </a:pPr>
          </a:p>
          <a:p>
            <a:pPr marL="342900" indent="-342900">
              <a:buClr>
                <a:srgbClr val="000000"/>
              </a:buClr>
              <a:buSzPct val="100000"/>
              <a:buAutoNum type="arabicPeriod" startAt="5"/>
              <a:defRPr sz="1800"/>
            </a:pPr>
            <a:r>
              <a:t>i</a:t>
            </a:r>
            <a:r>
              <a:t>ndex.html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t> </a:t>
            </a:r>
          </a:p>
        </p:txBody>
      </p:sp>
      <p:sp>
        <p:nvSpPr>
          <p:cNvPr id="125" name="Google Shape;135;p5"/>
          <p:cNvSpPr txBox="1"/>
          <p:nvPr/>
        </p:nvSpPr>
        <p:spPr>
          <a:xfrm>
            <a:off x="537589" y="323238"/>
            <a:ext cx="590893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/>
            </a:lvl1pPr>
          </a:lstStyle>
          <a:p>
            <a:pPr/>
            <a:r>
              <a:t>Required Files created using IBM bob -</a:t>
            </a:r>
          </a:p>
        </p:txBody>
      </p:sp>
      <p:pic>
        <p:nvPicPr>
          <p:cNvPr id="126" name="Screenshot 2026-09-11 at 10.27.31 PM.png" descr="Screenshot 2026-09-11 at 10.27.31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88618" y="1144614"/>
            <a:ext cx="8226914" cy="51607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35;p5"/>
          <p:cNvSpPr txBox="1"/>
          <p:nvPr/>
        </p:nvSpPr>
        <p:spPr>
          <a:xfrm>
            <a:off x="537589" y="323238"/>
            <a:ext cx="5908931" cy="48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50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</a:t>
            </a:r>
            <a:r>
              <a:rPr sz="2400"/>
              <a:t>IBM Bob Screenshots:</a:t>
            </a:r>
          </a:p>
        </p:txBody>
      </p:sp>
      <p:pic>
        <p:nvPicPr>
          <p:cNvPr id="129" name="Screenshot 2026-09-11 at 10.50.27 PM.png" descr="Screenshot 2026-09-11 at 10.50.2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94066" y="978085"/>
            <a:ext cx="8486846" cy="56389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Screenshot 2026-09-11 at 10.17.43 PM.png" descr="Screenshot 2026-09-11 at 10.17.4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1330" y="137995"/>
            <a:ext cx="9856391" cy="65820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ChatGPT Image Sep 11, 2026 at 09_28_09 PM.png" descr="ChatGPT Image Sep 11, 2026 at 09_28_0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474" y="214623"/>
            <a:ext cx="11795052" cy="66272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96;p9" descr="Google Shape;196;p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71985" y="1167492"/>
            <a:ext cx="3015344" cy="4523015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TextBox 1"/>
          <p:cNvSpPr txBox="1"/>
          <p:nvPr/>
        </p:nvSpPr>
        <p:spPr>
          <a:xfrm>
            <a:off x="521208" y="283463"/>
            <a:ext cx="9226296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/>
            </a:lvl1pPr>
          </a:lstStyle>
          <a:p>
            <a:pPr/>
            <a:r>
              <a:t>Role of Agentic AI in the solution </a:t>
            </a:r>
          </a:p>
        </p:txBody>
      </p:sp>
      <p:sp>
        <p:nvSpPr>
          <p:cNvPr id="137" name="TextBox 2"/>
          <p:cNvSpPr txBox="1"/>
          <p:nvPr/>
        </p:nvSpPr>
        <p:spPr>
          <a:xfrm>
            <a:off x="667511" y="1167492"/>
            <a:ext cx="7315201" cy="414962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/>
            </a:pPr>
            <a:r>
              <a:t>Role of Agentic AI</a:t>
            </a:r>
          </a:p>
          <a:p>
            <a:pPr/>
          </a:p>
          <a:p>
            <a:pPr/>
            <a:r>
              <a:t>The College Admission Agent uses agentic AI concepts to make the chatbot more intelligent and task-oriented.</a:t>
            </a:r>
          </a:p>
          <a:p>
            <a:pPr/>
          </a:p>
          <a:p>
            <a:pPr>
              <a:defRPr b="1"/>
            </a:pPr>
            <a:r>
              <a:t>Capabilities</a:t>
            </a:r>
          </a:p>
          <a:p>
            <a:pPr/>
          </a:p>
          <a:p>
            <a:pPr/>
            <a:r>
              <a:t>* Understand student questions.</a:t>
            </a:r>
          </a:p>
          <a:p>
            <a:pPr/>
            <a:r>
              <a:t>* Identify the type of admission query.</a:t>
            </a:r>
          </a:p>
          <a:p>
            <a:pPr/>
            <a:r>
              <a:t>* Retrieve relevant information.</a:t>
            </a:r>
          </a:p>
          <a:p>
            <a:pPr/>
            <a:r>
              <a:t>* Use retrieved context to generate responses.</a:t>
            </a:r>
          </a:p>
          <a:p>
            <a:pPr/>
            <a:r>
              <a:t>* Maintain conversational context.</a:t>
            </a:r>
          </a:p>
          <a:p>
            <a:pPr/>
            <a:r>
              <a:t>* Provide appropriate next-step guidance.</a:t>
            </a:r>
          </a:p>
          <a:p>
            <a:pPr/>
            <a:r>
              <a:t>* Handle different admission-related tasks.</a:t>
            </a:r>
          </a:p>
          <a:p>
            <a:pPr/>
          </a:p>
          <a:p>
            <a:pPr>
              <a:defRPr b="1"/>
            </a:pPr>
            <a:r>
              <a:t>Possible Tasks</a:t>
            </a:r>
          </a:p>
          <a:p>
            <a:pPr/>
          </a:p>
          <a:p>
            <a:pPr>
              <a:defRPr b="1"/>
            </a:pPr>
            <a:r>
              <a:t>Course Selection → Eligibility → Fees → Application → Documents → Deadlines → FAQs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278;p18"/>
          <p:cNvSpPr txBox="1"/>
          <p:nvPr/>
        </p:nvSpPr>
        <p:spPr>
          <a:xfrm>
            <a:off x="409143" y="112960"/>
            <a:ext cx="6444498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7142"/>
              </a:lnSpc>
              <a:defRPr b="1" sz="2400"/>
            </a:lvl1pPr>
          </a:lstStyle>
          <a:p>
            <a:pPr/>
            <a:r>
              <a:t> Project Output Screenshot</a:t>
            </a:r>
          </a:p>
        </p:txBody>
      </p:sp>
      <p:sp>
        <p:nvSpPr>
          <p:cNvPr id="140" name="Google Shape;280;p18"/>
          <p:cNvSpPr txBox="1"/>
          <p:nvPr/>
        </p:nvSpPr>
        <p:spPr>
          <a:xfrm>
            <a:off x="1218724" y="3360215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sp>
        <p:nvSpPr>
          <p:cNvPr id="141" name="Google Shape;281;p18"/>
          <p:cNvSpPr txBox="1"/>
          <p:nvPr/>
        </p:nvSpPr>
        <p:spPr>
          <a:xfrm>
            <a:off x="1218724" y="4395463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sp>
        <p:nvSpPr>
          <p:cNvPr id="142" name="Google Shape;282;p18"/>
          <p:cNvSpPr txBox="1"/>
          <p:nvPr/>
        </p:nvSpPr>
        <p:spPr>
          <a:xfrm>
            <a:off x="1218724" y="5430713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pic>
        <p:nvPicPr>
          <p:cNvPr id="143" name="Screenshot 2026-09-11 at 10.09.11 PM.png" descr="Screenshot 2026-09-11 at 10.09.11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04032" y="557262"/>
            <a:ext cx="9275952" cy="61740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278;p18"/>
          <p:cNvSpPr txBox="1"/>
          <p:nvPr/>
        </p:nvSpPr>
        <p:spPr>
          <a:xfrm>
            <a:off x="409143" y="112960"/>
            <a:ext cx="6444498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7142"/>
              </a:lnSpc>
              <a:defRPr b="1" sz="2400"/>
            </a:lvl1pPr>
          </a:lstStyle>
          <a:p>
            <a:pPr/>
            <a:r>
              <a:t> Project Output Screenshot</a:t>
            </a:r>
          </a:p>
        </p:txBody>
      </p:sp>
      <p:sp>
        <p:nvSpPr>
          <p:cNvPr id="146" name="Google Shape;280;p18"/>
          <p:cNvSpPr txBox="1"/>
          <p:nvPr/>
        </p:nvSpPr>
        <p:spPr>
          <a:xfrm>
            <a:off x="1218724" y="3360215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sp>
        <p:nvSpPr>
          <p:cNvPr id="147" name="Google Shape;281;p18"/>
          <p:cNvSpPr txBox="1"/>
          <p:nvPr/>
        </p:nvSpPr>
        <p:spPr>
          <a:xfrm>
            <a:off x="1218724" y="4395463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sp>
        <p:nvSpPr>
          <p:cNvPr id="148" name="Google Shape;282;p18"/>
          <p:cNvSpPr txBox="1"/>
          <p:nvPr/>
        </p:nvSpPr>
        <p:spPr>
          <a:xfrm>
            <a:off x="1218724" y="5430713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pic>
        <p:nvPicPr>
          <p:cNvPr id="149" name="Screenshot 2026-09-11 at 10.31.27 PM.png" descr="Screenshot 2026-09-11 at 10.31.2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27300" y="773610"/>
            <a:ext cx="4270644" cy="5622826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</p:spPr>
      </p:pic>
      <p:pic>
        <p:nvPicPr>
          <p:cNvPr id="150" name="Screenshot 2026-09-11 at 10.31.59 PM.png" descr="Screenshot 2026-09-11 at 10.31.59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98735" y="447175"/>
            <a:ext cx="4270644" cy="6275695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278;p18"/>
          <p:cNvSpPr txBox="1"/>
          <p:nvPr/>
        </p:nvSpPr>
        <p:spPr>
          <a:xfrm>
            <a:off x="409143" y="112960"/>
            <a:ext cx="6444498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7142"/>
              </a:lnSpc>
              <a:defRPr b="1" sz="2400"/>
            </a:lvl1pPr>
          </a:lstStyle>
          <a:p>
            <a:pPr/>
            <a:r>
              <a:t> Project Output Screenshot</a:t>
            </a:r>
          </a:p>
        </p:txBody>
      </p:sp>
      <p:sp>
        <p:nvSpPr>
          <p:cNvPr id="153" name="Google Shape;280;p18"/>
          <p:cNvSpPr txBox="1"/>
          <p:nvPr/>
        </p:nvSpPr>
        <p:spPr>
          <a:xfrm>
            <a:off x="1218724" y="3360215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sp>
        <p:nvSpPr>
          <p:cNvPr id="154" name="Google Shape;281;p18"/>
          <p:cNvSpPr txBox="1"/>
          <p:nvPr/>
        </p:nvSpPr>
        <p:spPr>
          <a:xfrm>
            <a:off x="1218724" y="4395463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sp>
        <p:nvSpPr>
          <p:cNvPr id="155" name="Google Shape;282;p18"/>
          <p:cNvSpPr txBox="1"/>
          <p:nvPr/>
        </p:nvSpPr>
        <p:spPr>
          <a:xfrm>
            <a:off x="1218724" y="5430713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pic>
        <p:nvPicPr>
          <p:cNvPr id="156" name="Screenshot 2026-09-11 at 10.34.55 PM.png" descr="Screenshot 2026-09-11 at 10.34.5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87489" y="344038"/>
            <a:ext cx="4275850" cy="6289345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</p:spPr>
      </p:pic>
      <p:pic>
        <p:nvPicPr>
          <p:cNvPr id="157" name="Screenshot 2026-09-11 at 10.34.09 PM.png" descr="Screenshot 2026-09-11 at 10.34.09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3151" y="649191"/>
            <a:ext cx="4031108" cy="5939451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 txBox="1"/>
          <p:nvPr/>
        </p:nvSpPr>
        <p:spPr>
          <a:xfrm>
            <a:off x="822959" y="484631"/>
            <a:ext cx="7031737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Novelty and Uniqueness</a:t>
            </a:r>
          </a:p>
        </p:txBody>
      </p:sp>
      <p:sp>
        <p:nvSpPr>
          <p:cNvPr id="160" name="1. RAG-Based Responses…"/>
          <p:cNvSpPr txBox="1"/>
          <p:nvPr>
            <p:ph type="body" idx="1"/>
          </p:nvPr>
        </p:nvSpPr>
        <p:spPr>
          <a:xfrm>
            <a:off x="838200" y="1031245"/>
            <a:ext cx="10515600" cy="5032376"/>
          </a:xfrm>
          <a:prstGeom prst="rect">
            <a:avLst/>
          </a:prstGeom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1. RAG-Based Responses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Responses are generated using retrieved college information rather than relying only on general model knowledge.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2. Admission-Focused AI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The chatbot is specifically designed for college admission-related requirements.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3. Conversational Interaction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Students can communicate naturally instead of searching through multiple webpages.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4. Personalized Guidance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The system can guide students based on their course interests and requirements.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5. Trusted Information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The knowledge base can prioritize official college documents and approved sources.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6. Custom Website Integration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The AI assistant can be directly integrated into the college website.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Unique Value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A single intelligent assistant that brings course discovery, eligibility, fees, applications, deadlines and FAQs into one conversational interface.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278;p18"/>
          <p:cNvSpPr txBox="1"/>
          <p:nvPr/>
        </p:nvSpPr>
        <p:spPr>
          <a:xfrm>
            <a:off x="1218723" y="420729"/>
            <a:ext cx="6444498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7142"/>
              </a:lnSpc>
              <a:defRPr b="1" sz="2400"/>
            </a:lvl1pPr>
          </a:lstStyle>
          <a:p>
            <a:pPr/>
            <a:r>
              <a:t>Git Hub Link</a:t>
            </a:r>
          </a:p>
        </p:txBody>
      </p:sp>
      <p:sp>
        <p:nvSpPr>
          <p:cNvPr id="163" name="Google Shape;280;p18"/>
          <p:cNvSpPr txBox="1"/>
          <p:nvPr/>
        </p:nvSpPr>
        <p:spPr>
          <a:xfrm>
            <a:off x="1218724" y="3360215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sp>
        <p:nvSpPr>
          <p:cNvPr id="164" name="Google Shape;281;p18"/>
          <p:cNvSpPr txBox="1"/>
          <p:nvPr/>
        </p:nvSpPr>
        <p:spPr>
          <a:xfrm>
            <a:off x="1218724" y="4395463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sp>
        <p:nvSpPr>
          <p:cNvPr id="165" name="Google Shape;282;p18"/>
          <p:cNvSpPr txBox="1"/>
          <p:nvPr/>
        </p:nvSpPr>
        <p:spPr>
          <a:xfrm>
            <a:off x="1218724" y="5430713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sp>
        <p:nvSpPr>
          <p:cNvPr id="166" name="https://github.com/PraveenSingh7777/College-Admission-Agent.git"/>
          <p:cNvSpPr txBox="1"/>
          <p:nvPr>
            <p:ph type="body" idx="1"/>
          </p:nvPr>
        </p:nvSpPr>
        <p:spPr>
          <a:xfrm>
            <a:off x="838200" y="1434191"/>
            <a:ext cx="10515600" cy="5032376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/>
            <a:r>
              <a:t>https://github.com/PraveenSingh7777/College-Admission-Agent.git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278;p18"/>
          <p:cNvSpPr txBox="1"/>
          <p:nvPr/>
        </p:nvSpPr>
        <p:spPr>
          <a:xfrm>
            <a:off x="1218723" y="420729"/>
            <a:ext cx="6444498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7142"/>
              </a:lnSpc>
              <a:defRPr b="1" sz="2400"/>
            </a:lvl1pPr>
          </a:lstStyle>
          <a:p>
            <a:pPr/>
            <a:r>
              <a:t>Future Scope </a:t>
            </a:r>
          </a:p>
        </p:txBody>
      </p:sp>
      <p:sp>
        <p:nvSpPr>
          <p:cNvPr id="169" name="Google Shape;280;p18"/>
          <p:cNvSpPr txBox="1"/>
          <p:nvPr/>
        </p:nvSpPr>
        <p:spPr>
          <a:xfrm>
            <a:off x="1218724" y="3360215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sp>
        <p:nvSpPr>
          <p:cNvPr id="170" name="Google Shape;281;p18"/>
          <p:cNvSpPr txBox="1"/>
          <p:nvPr/>
        </p:nvSpPr>
        <p:spPr>
          <a:xfrm>
            <a:off x="1218724" y="4395463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sp>
        <p:nvSpPr>
          <p:cNvPr id="171" name="Google Shape;282;p18"/>
          <p:cNvSpPr txBox="1"/>
          <p:nvPr/>
        </p:nvSpPr>
        <p:spPr>
          <a:xfrm>
            <a:off x="1218724" y="5430713"/>
            <a:ext cx="746855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162"/>
              </a:lnSpc>
              <a:defRPr sz="18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·</a:t>
            </a:r>
          </a:p>
        </p:txBody>
      </p:sp>
      <p:sp>
        <p:nvSpPr>
          <p:cNvPr id="172" name="1. Application Status…"/>
          <p:cNvSpPr txBox="1"/>
          <p:nvPr>
            <p:ph type="body" idx="1"/>
          </p:nvPr>
        </p:nvSpPr>
        <p:spPr>
          <a:xfrm>
            <a:off x="1160556" y="1191264"/>
            <a:ext cx="10515601" cy="5032376"/>
          </a:xfrm>
          <a:prstGeom prst="rect">
            <a:avLst/>
          </a:prstGeom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1. Application Status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Students can check their application status through secure institutional integration.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2. Multilingual Support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Support Hindi and other regional languages to improve accessibility.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3. Voice Assistant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Allow students to interact with the admission agent using voice.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4. Intelligent Course Recommendation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Recommend suitable courses based on student interests, qualifications and preferences.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5. Human Counselor Handoff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Transfer complex queries to an admission counselor.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6. Real-Time Admission Updates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Connect approved official sources to provide updated deadlines and notices.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b="1" sz="1400">
                <a:latin typeface="+mn-lt"/>
                <a:ea typeface="+mn-ea"/>
                <a:cs typeface="+mn-cs"/>
                <a:sym typeface="Arial"/>
              </a:defRPr>
            </a:pPr>
            <a:r>
              <a:t>7. Analytics Dashboard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>
                <a:latin typeface="+mn-lt"/>
                <a:ea typeface="+mn-ea"/>
                <a:cs typeface="+mn-cs"/>
                <a:sym typeface="Arial"/>
              </a:defRPr>
            </a:pPr>
            <a:r>
              <a:t>Analyze frequently asked questions and identify gaps in admission information.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5"/>
          <p:cNvSpPr txBox="1"/>
          <p:nvPr/>
        </p:nvSpPr>
        <p:spPr>
          <a:xfrm>
            <a:off x="373669" y="207380"/>
            <a:ext cx="6004560" cy="644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Certificates Earned:</a:t>
            </a:r>
          </a:p>
        </p:txBody>
      </p:sp>
      <p:pic>
        <p:nvPicPr>
          <p:cNvPr id="175" name="IBMDesign20260910-20-xrysvn.pdf" descr="IBMDesign20260910-20-xrysvn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69393" y="841014"/>
            <a:ext cx="7712193" cy="59594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4"/>
          <p:cNvSpPr txBox="1"/>
          <p:nvPr/>
        </p:nvSpPr>
        <p:spPr>
          <a:xfrm>
            <a:off x="222416" y="226391"/>
            <a:ext cx="6004560" cy="644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400"/>
            </a:pPr>
            <a:r>
              <a:t>Certificates Earned:</a:t>
            </a:r>
            <a:r>
              <a:rPr b="0"/>
              <a:t>​</a:t>
            </a:r>
          </a:p>
        </p:txBody>
      </p:sp>
      <p:pic>
        <p:nvPicPr>
          <p:cNvPr id="178" name="Screenshot 2026-09-10 at 9.56.26 PM.png" descr="Screenshot 2026-09-10 at 9.56.2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5555" y="891169"/>
            <a:ext cx="8939609" cy="55202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310;p20" descr="Google Shape;310;p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2190301"/>
            <a:ext cx="12192000" cy="24773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